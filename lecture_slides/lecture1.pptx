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7" r:id="rId9"/>
    <p:sldId id="263" r:id="rId10"/>
    <p:sldId id="265" r:id="rId11"/>
    <p:sldId id="268" r:id="rId12"/>
    <p:sldId id="262" r:id="rId13"/>
    <p:sldId id="269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FA0310-2994-BA4A-AB68-B2B717B72671}" v="131" dt="2026-04-22T06:27:53.0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19"/>
    <p:restoredTop sz="92035"/>
  </p:normalViewPr>
  <p:slideViewPr>
    <p:cSldViewPr snapToGrid="0">
      <p:cViewPr varScale="1">
        <p:scale>
          <a:sx n="146" d="100"/>
          <a:sy n="146" d="100"/>
        </p:scale>
        <p:origin x="7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, Zhirui" userId="e974f7c0-1954-41e0-a846-f4009e449c77" providerId="ADAL" clId="{3902A1AC-ABF6-59CB-90DD-697D8E15BE87}"/>
    <pc:docChg chg="undo custSel addSld modSld">
      <pc:chgData name="Hu, Zhirui" userId="e974f7c0-1954-41e0-a846-f4009e449c77" providerId="ADAL" clId="{3902A1AC-ABF6-59CB-90DD-697D8E15BE87}" dt="2026-04-22T06:32:13.072" v="2120" actId="20577"/>
      <pc:docMkLst>
        <pc:docMk/>
      </pc:docMkLst>
      <pc:sldChg chg="modSp mod">
        <pc:chgData name="Hu, Zhirui" userId="e974f7c0-1954-41e0-a846-f4009e449c77" providerId="ADAL" clId="{3902A1AC-ABF6-59CB-90DD-697D8E15BE87}" dt="2026-04-11T03:18:06.512" v="1196" actId="20577"/>
        <pc:sldMkLst>
          <pc:docMk/>
          <pc:sldMk cId="2290412612" sldId="256"/>
        </pc:sldMkLst>
        <pc:spChg chg="mod">
          <ac:chgData name="Hu, Zhirui" userId="e974f7c0-1954-41e0-a846-f4009e449c77" providerId="ADAL" clId="{3902A1AC-ABF6-59CB-90DD-697D8E15BE87}" dt="2026-04-11T03:18:06.512" v="1196" actId="20577"/>
          <ac:spMkLst>
            <pc:docMk/>
            <pc:sldMk cId="2290412612" sldId="256"/>
            <ac:spMk id="2" creationId="{76D390E6-4561-0F11-E704-DA85A32AAD6B}"/>
          </ac:spMkLst>
        </pc:spChg>
      </pc:sldChg>
      <pc:sldChg chg="modSp mod">
        <pc:chgData name="Hu, Zhirui" userId="e974f7c0-1954-41e0-a846-f4009e449c77" providerId="ADAL" clId="{3902A1AC-ABF6-59CB-90DD-697D8E15BE87}" dt="2026-04-08T04:41:37.265" v="511" actId="20577"/>
        <pc:sldMkLst>
          <pc:docMk/>
          <pc:sldMk cId="2318775038" sldId="257"/>
        </pc:sldMkLst>
        <pc:spChg chg="mod">
          <ac:chgData name="Hu, Zhirui" userId="e974f7c0-1954-41e0-a846-f4009e449c77" providerId="ADAL" clId="{3902A1AC-ABF6-59CB-90DD-697D8E15BE87}" dt="2026-04-08T04:41:37.265" v="511" actId="20577"/>
          <ac:spMkLst>
            <pc:docMk/>
            <pc:sldMk cId="2318775038" sldId="257"/>
            <ac:spMk id="3" creationId="{F571A016-B14D-A333-1649-C4BCB62F53F2}"/>
          </ac:spMkLst>
        </pc:spChg>
      </pc:sldChg>
      <pc:sldChg chg="modSp mod modNotesTx">
        <pc:chgData name="Hu, Zhirui" userId="e974f7c0-1954-41e0-a846-f4009e449c77" providerId="ADAL" clId="{3902A1AC-ABF6-59CB-90DD-697D8E15BE87}" dt="2026-04-22T05:22:37.860" v="1460" actId="20577"/>
        <pc:sldMkLst>
          <pc:docMk/>
          <pc:sldMk cId="919020483" sldId="259"/>
        </pc:sldMkLst>
        <pc:spChg chg="mod">
          <ac:chgData name="Hu, Zhirui" userId="e974f7c0-1954-41e0-a846-f4009e449c77" providerId="ADAL" clId="{3902A1AC-ABF6-59CB-90DD-697D8E15BE87}" dt="2026-04-22T05:20:33.562" v="1399" actId="20577"/>
          <ac:spMkLst>
            <pc:docMk/>
            <pc:sldMk cId="919020483" sldId="259"/>
            <ac:spMk id="5" creationId="{50E46BC2-AA6A-8368-28DC-7736543D4383}"/>
          </ac:spMkLst>
        </pc:spChg>
      </pc:sldChg>
      <pc:sldChg chg="modSp mod modNotesTx">
        <pc:chgData name="Hu, Zhirui" userId="e974f7c0-1954-41e0-a846-f4009e449c77" providerId="ADAL" clId="{3902A1AC-ABF6-59CB-90DD-697D8E15BE87}" dt="2026-04-22T05:34:05.445" v="1582" actId="20577"/>
        <pc:sldMkLst>
          <pc:docMk/>
          <pc:sldMk cId="2787833206" sldId="260"/>
        </pc:sldMkLst>
        <pc:spChg chg="mod">
          <ac:chgData name="Hu, Zhirui" userId="e974f7c0-1954-41e0-a846-f4009e449c77" providerId="ADAL" clId="{3902A1AC-ABF6-59CB-90DD-697D8E15BE87}" dt="2026-04-22T05:33:06.890" v="1580" actId="20577"/>
          <ac:spMkLst>
            <pc:docMk/>
            <pc:sldMk cId="2787833206" sldId="260"/>
            <ac:spMk id="5" creationId="{BF44DE19-FA5C-12A2-81F8-86968A6DC16D}"/>
          </ac:spMkLst>
        </pc:spChg>
        <pc:picChg chg="mod">
          <ac:chgData name="Hu, Zhirui" userId="e974f7c0-1954-41e0-a846-f4009e449c77" providerId="ADAL" clId="{3902A1AC-ABF6-59CB-90DD-697D8E15BE87}" dt="2026-04-22T05:31:57.039" v="1553" actId="1076"/>
          <ac:picMkLst>
            <pc:docMk/>
            <pc:sldMk cId="2787833206" sldId="260"/>
            <ac:picMk id="3074" creationId="{2E95C88C-4AEB-25D4-5368-6A24D07B75A3}"/>
          </ac:picMkLst>
        </pc:picChg>
      </pc:sldChg>
      <pc:sldChg chg="addSp modSp mod modNotesTx">
        <pc:chgData name="Hu, Zhirui" userId="e974f7c0-1954-41e0-a846-f4009e449c77" providerId="ADAL" clId="{3902A1AC-ABF6-59CB-90DD-697D8E15BE87}" dt="2026-04-22T06:04:25.268" v="1837" actId="20577"/>
        <pc:sldMkLst>
          <pc:docMk/>
          <pc:sldMk cId="184131786" sldId="261"/>
        </pc:sldMkLst>
        <pc:spChg chg="mod">
          <ac:chgData name="Hu, Zhirui" userId="e974f7c0-1954-41e0-a846-f4009e449c77" providerId="ADAL" clId="{3902A1AC-ABF6-59CB-90DD-697D8E15BE87}" dt="2026-04-08T04:21:44.741" v="290" actId="20577"/>
          <ac:spMkLst>
            <pc:docMk/>
            <pc:sldMk cId="184131786" sldId="261"/>
            <ac:spMk id="2" creationId="{4B38124A-06A8-1BA6-4D61-E3B5FAECC40E}"/>
          </ac:spMkLst>
        </pc:spChg>
        <pc:spChg chg="mod">
          <ac:chgData name="Hu, Zhirui" userId="e974f7c0-1954-41e0-a846-f4009e449c77" providerId="ADAL" clId="{3902A1AC-ABF6-59CB-90DD-697D8E15BE87}" dt="2026-04-08T04:23:14.652" v="297" actId="5793"/>
          <ac:spMkLst>
            <pc:docMk/>
            <pc:sldMk cId="184131786" sldId="261"/>
            <ac:spMk id="3" creationId="{31210DB9-4099-833C-808B-FB77C340E43E}"/>
          </ac:spMkLst>
        </pc:spChg>
        <pc:picChg chg="add mod">
          <ac:chgData name="Hu, Zhirui" userId="e974f7c0-1954-41e0-a846-f4009e449c77" providerId="ADAL" clId="{3902A1AC-ABF6-59CB-90DD-697D8E15BE87}" dt="2026-04-08T04:14:50.825" v="11" actId="1076"/>
          <ac:picMkLst>
            <pc:docMk/>
            <pc:sldMk cId="184131786" sldId="261"/>
            <ac:picMk id="4" creationId="{E7330E0A-3387-E05A-FB77-951CF4B85C1E}"/>
          </ac:picMkLst>
        </pc:picChg>
        <pc:picChg chg="add mod">
          <ac:chgData name="Hu, Zhirui" userId="e974f7c0-1954-41e0-a846-f4009e449c77" providerId="ADAL" clId="{3902A1AC-ABF6-59CB-90DD-697D8E15BE87}" dt="2026-04-08T04:16:36.620" v="151" actId="1076"/>
          <ac:picMkLst>
            <pc:docMk/>
            <pc:sldMk cId="184131786" sldId="261"/>
            <ac:picMk id="5" creationId="{8DABFA11-585F-D4C2-E1CC-8E3E220F8F62}"/>
          </ac:picMkLst>
        </pc:picChg>
      </pc:sldChg>
      <pc:sldChg chg="addSp modSp mod">
        <pc:chgData name="Hu, Zhirui" userId="e974f7c0-1954-41e0-a846-f4009e449c77" providerId="ADAL" clId="{3902A1AC-ABF6-59CB-90DD-697D8E15BE87}" dt="2026-04-09T00:25:58.657" v="920" actId="1076"/>
        <pc:sldMkLst>
          <pc:docMk/>
          <pc:sldMk cId="1192026911" sldId="262"/>
        </pc:sldMkLst>
        <pc:spChg chg="add mod">
          <ac:chgData name="Hu, Zhirui" userId="e974f7c0-1954-41e0-a846-f4009e449c77" providerId="ADAL" clId="{3902A1AC-ABF6-59CB-90DD-697D8E15BE87}" dt="2026-04-09T00:25:58.657" v="920" actId="1076"/>
          <ac:spMkLst>
            <pc:docMk/>
            <pc:sldMk cId="1192026911" sldId="262"/>
            <ac:spMk id="5" creationId="{D23982CD-4604-014C-E23F-1D5C485340D8}"/>
          </ac:spMkLst>
        </pc:spChg>
        <pc:picChg chg="add mod">
          <ac:chgData name="Hu, Zhirui" userId="e974f7c0-1954-41e0-a846-f4009e449c77" providerId="ADAL" clId="{3902A1AC-ABF6-59CB-90DD-697D8E15BE87}" dt="2026-04-09T00:25:05.829" v="914" actId="1076"/>
          <ac:picMkLst>
            <pc:docMk/>
            <pc:sldMk cId="1192026911" sldId="262"/>
            <ac:picMk id="7" creationId="{6D2B1782-20AB-34A7-4F29-9EC253FA7F60}"/>
          </ac:picMkLst>
        </pc:picChg>
        <pc:picChg chg="add mod">
          <ac:chgData name="Hu, Zhirui" userId="e974f7c0-1954-41e0-a846-f4009e449c77" providerId="ADAL" clId="{3902A1AC-ABF6-59CB-90DD-697D8E15BE87}" dt="2026-04-09T00:25:50.800" v="919" actId="1076"/>
          <ac:picMkLst>
            <pc:docMk/>
            <pc:sldMk cId="1192026911" sldId="262"/>
            <ac:picMk id="9" creationId="{0F322F40-6B61-62EA-1DBF-4E5F820B9D1D}"/>
          </ac:picMkLst>
        </pc:picChg>
      </pc:sldChg>
      <pc:sldChg chg="modSp mod modNotesTx">
        <pc:chgData name="Hu, Zhirui" userId="e974f7c0-1954-41e0-a846-f4009e449c77" providerId="ADAL" clId="{3902A1AC-ABF6-59CB-90DD-697D8E15BE87}" dt="2026-04-22T06:27:09.944" v="2069" actId="20577"/>
        <pc:sldMkLst>
          <pc:docMk/>
          <pc:sldMk cId="2221260709" sldId="263"/>
        </pc:sldMkLst>
        <pc:spChg chg="mod">
          <ac:chgData name="Hu, Zhirui" userId="e974f7c0-1954-41e0-a846-f4009e449c77" providerId="ADAL" clId="{3902A1AC-ABF6-59CB-90DD-697D8E15BE87}" dt="2026-04-08T04:34:54.922" v="405" actId="20577"/>
          <ac:spMkLst>
            <pc:docMk/>
            <pc:sldMk cId="2221260709" sldId="263"/>
            <ac:spMk id="2" creationId="{68FA03CF-FBFA-2966-1476-8F773F118780}"/>
          </ac:spMkLst>
        </pc:spChg>
        <pc:spChg chg="mod">
          <ac:chgData name="Hu, Zhirui" userId="e974f7c0-1954-41e0-a846-f4009e449c77" providerId="ADAL" clId="{3902A1AC-ABF6-59CB-90DD-697D8E15BE87}" dt="2026-04-22T06:20:01.879" v="2017" actId="20577"/>
          <ac:spMkLst>
            <pc:docMk/>
            <pc:sldMk cId="2221260709" sldId="263"/>
            <ac:spMk id="3" creationId="{FE202733-79C5-834F-75C6-CCE2F5EA0D44}"/>
          </ac:spMkLst>
        </pc:spChg>
      </pc:sldChg>
      <pc:sldChg chg="addSp delSp modSp mod modNotesTx">
        <pc:chgData name="Hu, Zhirui" userId="e974f7c0-1954-41e0-a846-f4009e449c77" providerId="ADAL" clId="{3902A1AC-ABF6-59CB-90DD-697D8E15BE87}" dt="2026-04-22T06:27:52.706" v="2070" actId="20577"/>
        <pc:sldMkLst>
          <pc:docMk/>
          <pc:sldMk cId="1867286640" sldId="265"/>
        </pc:sldMkLst>
        <pc:spChg chg="mod">
          <ac:chgData name="Hu, Zhirui" userId="e974f7c0-1954-41e0-a846-f4009e449c77" providerId="ADAL" clId="{3902A1AC-ABF6-59CB-90DD-697D8E15BE87}" dt="2026-04-08T06:07:06.468" v="687" actId="1076"/>
          <ac:spMkLst>
            <pc:docMk/>
            <pc:sldMk cId="1867286640" sldId="265"/>
            <ac:spMk id="2" creationId="{88A9D804-5654-C4A1-7248-69249E474E46}"/>
          </ac:spMkLst>
        </pc:spChg>
        <pc:spChg chg="add mod">
          <ac:chgData name="Hu, Zhirui" userId="e974f7c0-1954-41e0-a846-f4009e449c77" providerId="ADAL" clId="{3902A1AC-ABF6-59CB-90DD-697D8E15BE87}" dt="2026-04-08T06:18:50.528" v="755" actId="1076"/>
          <ac:spMkLst>
            <pc:docMk/>
            <pc:sldMk cId="1867286640" sldId="265"/>
            <ac:spMk id="5" creationId="{E1CFBEBB-94A8-1CFF-D0A4-8B4521526687}"/>
          </ac:spMkLst>
        </pc:spChg>
        <pc:spChg chg="add mod">
          <ac:chgData name="Hu, Zhirui" userId="e974f7c0-1954-41e0-a846-f4009e449c77" providerId="ADAL" clId="{3902A1AC-ABF6-59CB-90DD-697D8E15BE87}" dt="2026-04-08T06:13:19.843" v="726" actId="255"/>
          <ac:spMkLst>
            <pc:docMk/>
            <pc:sldMk cId="1867286640" sldId="265"/>
            <ac:spMk id="6" creationId="{7F6066F3-7CD3-485B-415D-7CB68C700BD3}"/>
          </ac:spMkLst>
        </pc:spChg>
        <pc:spChg chg="add mod">
          <ac:chgData name="Hu, Zhirui" userId="e974f7c0-1954-41e0-a846-f4009e449c77" providerId="ADAL" clId="{3902A1AC-ABF6-59CB-90DD-697D8E15BE87}" dt="2026-04-08T06:13:19.843" v="726" actId="255"/>
          <ac:spMkLst>
            <pc:docMk/>
            <pc:sldMk cId="1867286640" sldId="265"/>
            <ac:spMk id="7" creationId="{A32152F3-DA28-547F-B043-C8B079383FD8}"/>
          </ac:spMkLst>
        </pc:spChg>
        <pc:spChg chg="add mod">
          <ac:chgData name="Hu, Zhirui" userId="e974f7c0-1954-41e0-a846-f4009e449c77" providerId="ADAL" clId="{3902A1AC-ABF6-59CB-90DD-697D8E15BE87}" dt="2026-04-08T06:13:19.843" v="726" actId="255"/>
          <ac:spMkLst>
            <pc:docMk/>
            <pc:sldMk cId="1867286640" sldId="265"/>
            <ac:spMk id="8" creationId="{A978D9B2-4858-9946-7EC6-FE3D8B6FD678}"/>
          </ac:spMkLst>
        </pc:spChg>
        <pc:spChg chg="add mod">
          <ac:chgData name="Hu, Zhirui" userId="e974f7c0-1954-41e0-a846-f4009e449c77" providerId="ADAL" clId="{3902A1AC-ABF6-59CB-90DD-697D8E15BE87}" dt="2026-04-08T06:13:19.843" v="726" actId="255"/>
          <ac:spMkLst>
            <pc:docMk/>
            <pc:sldMk cId="1867286640" sldId="265"/>
            <ac:spMk id="9" creationId="{6B59D9BD-D6EA-C307-EBF7-4CC49C4A107B}"/>
          </ac:spMkLst>
        </pc:spChg>
        <pc:spChg chg="add mod">
          <ac:chgData name="Hu, Zhirui" userId="e974f7c0-1954-41e0-a846-f4009e449c77" providerId="ADAL" clId="{3902A1AC-ABF6-59CB-90DD-697D8E15BE87}" dt="2026-04-08T06:13:19.843" v="726" actId="255"/>
          <ac:spMkLst>
            <pc:docMk/>
            <pc:sldMk cId="1867286640" sldId="265"/>
            <ac:spMk id="10" creationId="{BA9D4DDC-6CC5-1695-0265-4325C84B3EC2}"/>
          </ac:spMkLst>
        </pc:spChg>
        <pc:spChg chg="add mod">
          <ac:chgData name="Hu, Zhirui" userId="e974f7c0-1954-41e0-a846-f4009e449c77" providerId="ADAL" clId="{3902A1AC-ABF6-59CB-90DD-697D8E15BE87}" dt="2026-04-08T06:13:19.843" v="726" actId="255"/>
          <ac:spMkLst>
            <pc:docMk/>
            <pc:sldMk cId="1867286640" sldId="265"/>
            <ac:spMk id="11" creationId="{B7ACE561-F807-10D1-92CF-1BF60376348A}"/>
          </ac:spMkLst>
        </pc:spChg>
        <pc:spChg chg="add mod">
          <ac:chgData name="Hu, Zhirui" userId="e974f7c0-1954-41e0-a846-f4009e449c77" providerId="ADAL" clId="{3902A1AC-ABF6-59CB-90DD-697D8E15BE87}" dt="2026-04-08T06:18:53.824" v="756" actId="1076"/>
          <ac:spMkLst>
            <pc:docMk/>
            <pc:sldMk cId="1867286640" sldId="265"/>
            <ac:spMk id="12" creationId="{8D9F0DB2-E45D-2D00-18D9-0B9FEE515A4E}"/>
          </ac:spMkLst>
        </pc:spChg>
        <pc:graphicFrameChg chg="add mod modGraphic">
          <ac:chgData name="Hu, Zhirui" userId="e974f7c0-1954-41e0-a846-f4009e449c77" providerId="ADAL" clId="{3902A1AC-ABF6-59CB-90DD-697D8E15BE87}" dt="2026-04-08T06:13:51.527" v="729" actId="14734"/>
          <ac:graphicFrameMkLst>
            <pc:docMk/>
            <pc:sldMk cId="1867286640" sldId="265"/>
            <ac:graphicFrameMk id="4" creationId="{73A338BD-BCBF-7941-B3BA-9485E5D89E3B}"/>
          </ac:graphicFrameMkLst>
        </pc:graphicFrameChg>
        <pc:picChg chg="add">
          <ac:chgData name="Hu, Zhirui" userId="e974f7c0-1954-41e0-a846-f4009e449c77" providerId="ADAL" clId="{3902A1AC-ABF6-59CB-90DD-697D8E15BE87}" dt="2026-04-08T06:17:05.849" v="730"/>
          <ac:picMkLst>
            <pc:docMk/>
            <pc:sldMk cId="1867286640" sldId="265"/>
            <ac:picMk id="1026" creationId="{0B77FBF6-B40D-355C-1874-E28FE36AF213}"/>
          </ac:picMkLst>
        </pc:picChg>
      </pc:sldChg>
      <pc:sldChg chg="modSp mod">
        <pc:chgData name="Hu, Zhirui" userId="e974f7c0-1954-41e0-a846-f4009e449c77" providerId="ADAL" clId="{3902A1AC-ABF6-59CB-90DD-697D8E15BE87}" dt="2026-04-09T00:44:48.062" v="1140" actId="20577"/>
        <pc:sldMkLst>
          <pc:docMk/>
          <pc:sldMk cId="559116844" sldId="266"/>
        </pc:sldMkLst>
        <pc:spChg chg="mod">
          <ac:chgData name="Hu, Zhirui" userId="e974f7c0-1954-41e0-a846-f4009e449c77" providerId="ADAL" clId="{3902A1AC-ABF6-59CB-90DD-697D8E15BE87}" dt="2026-04-09T00:44:48.062" v="1140" actId="20577"/>
          <ac:spMkLst>
            <pc:docMk/>
            <pc:sldMk cId="559116844" sldId="266"/>
            <ac:spMk id="3" creationId="{22C596C6-2766-49B2-BD6B-D459B00BD8FC}"/>
          </ac:spMkLst>
        </pc:spChg>
      </pc:sldChg>
      <pc:sldChg chg="modSp new mod modNotesTx">
        <pc:chgData name="Hu, Zhirui" userId="e974f7c0-1954-41e0-a846-f4009e449c77" providerId="ADAL" clId="{3902A1AC-ABF6-59CB-90DD-697D8E15BE87}" dt="2026-04-22T06:09:19.851" v="1883" actId="313"/>
        <pc:sldMkLst>
          <pc:docMk/>
          <pc:sldMk cId="2775539181" sldId="267"/>
        </pc:sldMkLst>
        <pc:spChg chg="mod">
          <ac:chgData name="Hu, Zhirui" userId="e974f7c0-1954-41e0-a846-f4009e449c77" providerId="ADAL" clId="{3902A1AC-ABF6-59CB-90DD-697D8E15BE87}" dt="2026-04-08T04:44:23.626" v="547" actId="20577"/>
          <ac:spMkLst>
            <pc:docMk/>
            <pc:sldMk cId="2775539181" sldId="267"/>
            <ac:spMk id="2" creationId="{AD7565DB-4A2E-B668-D651-957F7A47B3D3}"/>
          </ac:spMkLst>
        </pc:spChg>
        <pc:spChg chg="mod">
          <ac:chgData name="Hu, Zhirui" userId="e974f7c0-1954-41e0-a846-f4009e449c77" providerId="ADAL" clId="{3902A1AC-ABF6-59CB-90DD-697D8E15BE87}" dt="2026-04-08T04:46:01.206" v="581" actId="20577"/>
          <ac:spMkLst>
            <pc:docMk/>
            <pc:sldMk cId="2775539181" sldId="267"/>
            <ac:spMk id="3" creationId="{60BE4E88-FA78-8759-6A1B-47A2066FE665}"/>
          </ac:spMkLst>
        </pc:spChg>
      </pc:sldChg>
      <pc:sldChg chg="addSp delSp modSp new mod">
        <pc:chgData name="Hu, Zhirui" userId="e974f7c0-1954-41e0-a846-f4009e449c77" providerId="ADAL" clId="{3902A1AC-ABF6-59CB-90DD-697D8E15BE87}" dt="2026-04-22T06:32:13.072" v="2120" actId="20577"/>
        <pc:sldMkLst>
          <pc:docMk/>
          <pc:sldMk cId="209158531" sldId="268"/>
        </pc:sldMkLst>
        <pc:spChg chg="add mod">
          <ac:chgData name="Hu, Zhirui" userId="e974f7c0-1954-41e0-a846-f4009e449c77" providerId="ADAL" clId="{3902A1AC-ABF6-59CB-90DD-697D8E15BE87}" dt="2026-04-08T06:19:52.816" v="763" actId="403"/>
          <ac:spMkLst>
            <pc:docMk/>
            <pc:sldMk cId="209158531" sldId="268"/>
            <ac:spMk id="20" creationId="{DF9DA514-10B9-84FF-D21B-30187A74C565}"/>
          </ac:spMkLst>
        </pc:spChg>
        <pc:spChg chg="mod">
          <ac:chgData name="Hu, Zhirui" userId="e974f7c0-1954-41e0-a846-f4009e449c77" providerId="ADAL" clId="{3902A1AC-ABF6-59CB-90DD-697D8E15BE87}" dt="2026-04-08T06:09:29.677" v="700" actId="1076"/>
          <ac:spMkLst>
            <pc:docMk/>
            <pc:sldMk cId="209158531" sldId="268"/>
            <ac:spMk id="21" creationId="{47CEA500-E968-4DF5-1C89-2F0D5A4075C1}"/>
          </ac:spMkLst>
        </pc:spChg>
        <pc:spChg chg="add mod">
          <ac:chgData name="Hu, Zhirui" userId="e974f7c0-1954-41e0-a846-f4009e449c77" providerId="ADAL" clId="{3902A1AC-ABF6-59CB-90DD-697D8E15BE87}" dt="2026-04-22T06:32:04.218" v="2101" actId="20577"/>
          <ac:spMkLst>
            <pc:docMk/>
            <pc:sldMk cId="209158531" sldId="268"/>
            <ac:spMk id="22" creationId="{B21BA83A-877E-A60A-A66D-E9720AD275D4}"/>
          </ac:spMkLst>
        </pc:spChg>
        <pc:spChg chg="add mod">
          <ac:chgData name="Hu, Zhirui" userId="e974f7c0-1954-41e0-a846-f4009e449c77" providerId="ADAL" clId="{3902A1AC-ABF6-59CB-90DD-697D8E15BE87}" dt="2026-04-08T06:19:52.816" v="763" actId="403"/>
          <ac:spMkLst>
            <pc:docMk/>
            <pc:sldMk cId="209158531" sldId="268"/>
            <ac:spMk id="23" creationId="{4CEB6C1D-9E91-8D4F-62C5-43DD422C42F3}"/>
          </ac:spMkLst>
        </pc:spChg>
        <pc:spChg chg="add mod">
          <ac:chgData name="Hu, Zhirui" userId="e974f7c0-1954-41e0-a846-f4009e449c77" providerId="ADAL" clId="{3902A1AC-ABF6-59CB-90DD-697D8E15BE87}" dt="2026-04-08T06:19:52.816" v="763" actId="403"/>
          <ac:spMkLst>
            <pc:docMk/>
            <pc:sldMk cId="209158531" sldId="268"/>
            <ac:spMk id="24" creationId="{ED713E61-6D55-52EA-87F4-0C611472BB85}"/>
          </ac:spMkLst>
        </pc:spChg>
        <pc:spChg chg="add mod">
          <ac:chgData name="Hu, Zhirui" userId="e974f7c0-1954-41e0-a846-f4009e449c77" providerId="ADAL" clId="{3902A1AC-ABF6-59CB-90DD-697D8E15BE87}" dt="2026-04-22T06:32:06.866" v="2107" actId="20577"/>
          <ac:spMkLst>
            <pc:docMk/>
            <pc:sldMk cId="209158531" sldId="268"/>
            <ac:spMk id="25" creationId="{5B84145E-624E-67BB-A552-D242C8765AB3}"/>
          </ac:spMkLst>
        </pc:spChg>
        <pc:spChg chg="mod">
          <ac:chgData name="Hu, Zhirui" userId="e974f7c0-1954-41e0-a846-f4009e449c77" providerId="ADAL" clId="{3902A1AC-ABF6-59CB-90DD-697D8E15BE87}" dt="2026-04-08T06:09:24.279" v="699" actId="1076"/>
          <ac:spMkLst>
            <pc:docMk/>
            <pc:sldMk cId="209158531" sldId="268"/>
            <ac:spMk id="26" creationId="{42012F0F-7BC7-D6BB-05FE-98BEC9D2858B}"/>
          </ac:spMkLst>
        </pc:spChg>
        <pc:spChg chg="add mod">
          <ac:chgData name="Hu, Zhirui" userId="e974f7c0-1954-41e0-a846-f4009e449c77" providerId="ADAL" clId="{3902A1AC-ABF6-59CB-90DD-697D8E15BE87}" dt="2026-04-08T06:19:52.816" v="763" actId="403"/>
          <ac:spMkLst>
            <pc:docMk/>
            <pc:sldMk cId="209158531" sldId="268"/>
            <ac:spMk id="27" creationId="{896214D0-D17E-7AE4-0429-2DC638D6172D}"/>
          </ac:spMkLst>
        </pc:spChg>
        <pc:spChg chg="add mod">
          <ac:chgData name="Hu, Zhirui" userId="e974f7c0-1954-41e0-a846-f4009e449c77" providerId="ADAL" clId="{3902A1AC-ABF6-59CB-90DD-697D8E15BE87}" dt="2026-04-08T06:20:55.097" v="781" actId="14100"/>
          <ac:spMkLst>
            <pc:docMk/>
            <pc:sldMk cId="209158531" sldId="268"/>
            <ac:spMk id="28" creationId="{69D6E2DF-E57E-D57B-15E7-9F98F8A77197}"/>
          </ac:spMkLst>
        </pc:spChg>
        <pc:spChg chg="add mod">
          <ac:chgData name="Hu, Zhirui" userId="e974f7c0-1954-41e0-a846-f4009e449c77" providerId="ADAL" clId="{3902A1AC-ABF6-59CB-90DD-697D8E15BE87}" dt="2026-04-08T06:19:52.816" v="763" actId="403"/>
          <ac:spMkLst>
            <pc:docMk/>
            <pc:sldMk cId="209158531" sldId="268"/>
            <ac:spMk id="29" creationId="{5A9E1A4D-A1C6-FF67-8100-5621E00F71B0}"/>
          </ac:spMkLst>
        </pc:spChg>
        <pc:spChg chg="add mod">
          <ac:chgData name="Hu, Zhirui" userId="e974f7c0-1954-41e0-a846-f4009e449c77" providerId="ADAL" clId="{3902A1AC-ABF6-59CB-90DD-697D8E15BE87}" dt="2026-04-08T06:19:52.816" v="763" actId="403"/>
          <ac:spMkLst>
            <pc:docMk/>
            <pc:sldMk cId="209158531" sldId="268"/>
            <ac:spMk id="30" creationId="{FF226DFE-592C-7B1E-862E-1F767DEF5E1C}"/>
          </ac:spMkLst>
        </pc:spChg>
        <pc:spChg chg="add mod">
          <ac:chgData name="Hu, Zhirui" userId="e974f7c0-1954-41e0-a846-f4009e449c77" providerId="ADAL" clId="{3902A1AC-ABF6-59CB-90DD-697D8E15BE87}" dt="2026-04-22T06:32:13.072" v="2120" actId="20577"/>
          <ac:spMkLst>
            <pc:docMk/>
            <pc:sldMk cId="209158531" sldId="268"/>
            <ac:spMk id="31" creationId="{D1AE665E-C62D-AEB1-E62B-E6400F55A234}"/>
          </ac:spMkLst>
        </pc:spChg>
      </pc:sldChg>
      <pc:sldChg chg="modSp new mod">
        <pc:chgData name="Hu, Zhirui" userId="e974f7c0-1954-41e0-a846-f4009e449c77" providerId="ADAL" clId="{3902A1AC-ABF6-59CB-90DD-697D8E15BE87}" dt="2026-04-11T03:18:57.809" v="1258" actId="20577"/>
        <pc:sldMkLst>
          <pc:docMk/>
          <pc:sldMk cId="4117520857" sldId="269"/>
        </pc:sldMkLst>
        <pc:spChg chg="mod">
          <ac:chgData name="Hu, Zhirui" userId="e974f7c0-1954-41e0-a846-f4009e449c77" providerId="ADAL" clId="{3902A1AC-ABF6-59CB-90DD-697D8E15BE87}" dt="2026-04-11T03:18:57.809" v="1258" actId="20577"/>
          <ac:spMkLst>
            <pc:docMk/>
            <pc:sldMk cId="4117520857" sldId="269"/>
            <ac:spMk id="2" creationId="{596A285B-24C8-FC64-E35B-BDE2D4C928C6}"/>
          </ac:spMkLst>
        </pc:spChg>
        <pc:spChg chg="mod">
          <ac:chgData name="Hu, Zhirui" userId="e974f7c0-1954-41e0-a846-f4009e449c77" providerId="ADAL" clId="{3902A1AC-ABF6-59CB-90DD-697D8E15BE87}" dt="2026-04-11T03:18:31.718" v="1225" actId="20577"/>
          <ac:spMkLst>
            <pc:docMk/>
            <pc:sldMk cId="4117520857" sldId="269"/>
            <ac:spMk id="3" creationId="{AA8F1874-8690-4A78-2306-8C1F3FB82D5E}"/>
          </ac:spMkLst>
        </pc:spChg>
      </pc:sldChg>
      <pc:sldChg chg="addSp delSp modSp new mod">
        <pc:chgData name="Hu, Zhirui" userId="e974f7c0-1954-41e0-a846-f4009e449c77" providerId="ADAL" clId="{3902A1AC-ABF6-59CB-90DD-697D8E15BE87}" dt="2026-04-12T05:26:54.591" v="1329" actId="5793"/>
        <pc:sldMkLst>
          <pc:docMk/>
          <pc:sldMk cId="3131801106" sldId="270"/>
        </pc:sldMkLst>
        <pc:spChg chg="add del mod">
          <ac:chgData name="Hu, Zhirui" userId="e974f7c0-1954-41e0-a846-f4009e449c77" providerId="ADAL" clId="{3902A1AC-ABF6-59CB-90DD-697D8E15BE87}" dt="2026-04-12T05:24:56.514" v="1326" actId="20577"/>
          <ac:spMkLst>
            <pc:docMk/>
            <pc:sldMk cId="3131801106" sldId="270"/>
            <ac:spMk id="2" creationId="{410D8EBB-CEAE-8CEA-E211-18965B369F04}"/>
          </ac:spMkLst>
        </pc:spChg>
        <pc:spChg chg="mod">
          <ac:chgData name="Hu, Zhirui" userId="e974f7c0-1954-41e0-a846-f4009e449c77" providerId="ADAL" clId="{3902A1AC-ABF6-59CB-90DD-697D8E15BE87}" dt="2026-04-12T05:26:54.591" v="1329" actId="5793"/>
          <ac:spMkLst>
            <pc:docMk/>
            <pc:sldMk cId="3131801106" sldId="270"/>
            <ac:spMk id="3" creationId="{F97C3341-5B67-3C5D-ACE8-B3C36291992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84A63-976A-AB40-9FCA-A2AE2386F4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47E198-097F-A84B-9D8F-51816A0FE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8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support these cores, how GPU memory is designed.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 data transfer between GPU and CPU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maximize computational efficiency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47E198-097F-A84B-9D8F-51816A0FE5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39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a program runs on a GPU, it gets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split across multiple SMs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each SM works on a chunk of data.</a:t>
            </a:r>
            <a:endParaRPr lang="en-US" dirty="0"/>
          </a:p>
          <a:p>
            <a:r>
              <a:rPr lang="en-US" dirty="0"/>
              <a:t>Each SM contains multiple GPU cores, a small memory pool (SRAM), and `execution units.</a:t>
            </a:r>
          </a:p>
          <a:p>
            <a:r>
              <a:rPr lang="en-US" dirty="0"/>
              <a:t>Each SM operates independently, handling multiple programs in parallel, communicate with global memory (slower but larger)</a:t>
            </a:r>
            <a:br>
              <a:rPr lang="en-US" dirty="0"/>
            </a:br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group of threads (typically 32) that execute in parallel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47E198-097F-A84B-9D8F-51816A0FE5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919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development of neural networks started with single perceptron,  simplest case, linear classifier;  MLP can solve complex problems (not linearly separable)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47E198-097F-A84B-9D8F-51816A0FE5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546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Deep learning boom starting 2010s: increase data set, better computing, better methods  (architecture, activation functions,  techniques for gradient descent,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vanishing gradient problem in backpropagation</a:t>
            </a:r>
            <a:r>
              <a:rPr lang="en-US" dirty="0"/>
              <a:t>), </a:t>
            </a:r>
            <a:r>
              <a:rPr lang="en-US" strike="sngStrike" dirty="0"/>
              <a:t>hierarchical learning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vanishing gradient problem was resolved primarily by replacing sigmoid/tanh activation functions with </a:t>
            </a:r>
            <a:r>
              <a:rPr lang="en-US" dirty="0" err="1"/>
              <a:t>ReLU</a:t>
            </a:r>
            <a:r>
              <a:rPr lang="en-US" dirty="0"/>
              <a:t>, implementing smarter weight initialization (Xavier/He), using Batch Normalization, and adopting specialized architectures like </a:t>
            </a:r>
            <a:r>
              <a:rPr lang="en-US" dirty="0" err="1"/>
              <a:t>ResNets</a:t>
            </a:r>
            <a:r>
              <a:rPr lang="en-US" dirty="0"/>
              <a:t> (residual connections) and LSTMs/GRUs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47E198-097F-A84B-9D8F-51816A0FE5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03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Apple integrates GPUs directly into their chips</a:t>
            </a:r>
          </a:p>
          <a:p>
            <a:r>
              <a:rPr lang="en-US" dirty="0"/>
              <a:t>CUDA provides a way for programmers to write code that runs on those thousands of GPU cores at once</a:t>
            </a:r>
          </a:p>
          <a:p>
            <a:r>
              <a:rPr lang="en-US" dirty="0"/>
              <a:t>Most deep learning libraries don't natively support Metal (API for apple) as well as CUDA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47E198-097F-A84B-9D8F-51816A0FE5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253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 Lovelace: first computer programmer</a:t>
            </a:r>
            <a:endParaRPr lang="en-US" dirty="0"/>
          </a:p>
          <a:p>
            <a:r>
              <a:rPr lang="en-US" dirty="0"/>
              <a:t>Grace hopper: first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machine-independent programming languages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David Blackwell: contributions in information theory, statistics, Rao–Blackwell theorem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TDP = How much power the GPU consumes and how much heat it produces at maximum load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47E198-097F-A84B-9D8F-51816A0FE5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91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7FAD8-43D8-D65C-3B12-9E730A6DD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4DD41C-2482-1C3D-860F-290200CBF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71A69-4E5D-2085-D021-D1F230906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78E2-2A89-A943-B6A5-C16DDB59CA1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804EE-B03B-D4AB-695E-9A1F71910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2E3FE-EB48-7FC3-1E41-FDC75F0D7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9B2B6-875E-4740-9F5D-6FD28FB3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45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96B04-62F1-BDC8-505C-05F7A51F9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FD2B2-C0C4-74A8-496C-272E2DE5C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B8873-2143-FC2A-C06C-77094EBF5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78E2-2A89-A943-B6A5-C16DDB59CA1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5EC5D-93D0-C51E-DA4D-8A7A22BC2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DBBCD-9B6C-B6A6-E457-A3FD53FA2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9B2B6-875E-4740-9F5D-6FD28FB3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90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BAB7-547F-332C-9DEE-C22A3C976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94365-8DC0-82C2-C0E6-FA3E7A5A7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E7F85-DE0F-C353-9365-9B4EE3B34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78E2-2A89-A943-B6A5-C16DDB59CA1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804F7-F2AC-BBB0-9F4A-C94F1729A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8B639-3770-FC28-169F-0C8325B99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9B2B6-875E-4740-9F5D-6FD28FB3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85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34227-DEC1-699D-3477-CC3376674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4BE3B-F2F4-DB07-8A4F-E71F86C6B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95CDF-0B22-437E-3B7D-B88F1D4E0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ECCB7-3C07-716B-979C-9A72401A5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78E2-2A89-A943-B6A5-C16DDB59CA1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A4DD6-BCBF-9266-74BF-553EAEA0D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D0123-B9B6-E649-33E6-CCF7364A2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9B2B6-875E-4740-9F5D-6FD28FB3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044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73E72-06B7-7394-84E4-052586765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7C645-F06B-B09E-B21E-FAE4A3664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45B68-8180-13D2-0751-F2F089B3D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6B2046-7843-1DAD-F3D8-2D6F4C63DA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8290D-E8CA-9109-7477-F876E2F69C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E3DA1D-5F92-D88E-C71F-792AE59DC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78E2-2A89-A943-B6A5-C16DDB59CA1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958FCF-C3E3-B78C-2892-A4C7352AD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2B2216-751D-096F-86BC-C71005F0C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9B2B6-875E-4740-9F5D-6FD28FB3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985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49398-0605-FABE-8FB1-453D5937D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D3E163-ACF9-4B00-E919-B8F2CDC47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78E2-2A89-A943-B6A5-C16DDB59CA1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C83674-7F7C-3FF3-4471-0C47E9B1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4CDE85-746E-5449-86A6-12FB9EEBB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9B2B6-875E-4740-9F5D-6FD28FB3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293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6787EF-EA8E-7068-8B07-2829D50C5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78E2-2A89-A943-B6A5-C16DDB59CA1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99C429-CF93-2340-42F0-A9DD1369D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8627B-6D6F-BA6F-99EE-DBF338713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9B2B6-875E-4740-9F5D-6FD28FB3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81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55111-6FFA-AEFB-4988-CBAC3CB17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2A59A-1F60-47DA-24D3-20C23EC7D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27BDF-6464-128A-08AA-5812E4F16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7594A-6E0E-ABC3-CE6B-BBD0CD0BD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78E2-2A89-A943-B6A5-C16DDB59CA1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C1503-6342-6C09-8747-B6DC40076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62F7C6-08CC-127D-7858-83FFBFE4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9B2B6-875E-4740-9F5D-6FD28FB3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00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5DA7-4FBB-02DE-6FDE-37AB1FEB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758C82-9ABA-6BF8-2FB5-E99470862E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AD1068-8867-72C3-8DC7-E19481759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3F68A-9EC6-BA5D-DAC7-22C79A56C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78E2-2A89-A943-B6A5-C16DDB59CA1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8FDD9F-A5DE-F09A-3984-E6B1A74CC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5E8E1-463C-6660-8C79-FEDAD312C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9B2B6-875E-4740-9F5D-6FD28FB3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36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C26E6-3A4F-1F28-84D3-D34E6E76C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A073FF-D7D8-4CC2-857E-B8B788D13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40E58-CF27-A950-C1E8-A5644CF23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78E2-2A89-A943-B6A5-C16DDB59CA1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57887-00F2-D181-0857-50394BC70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5454E-B4EA-038A-417B-0F904ACCC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9B2B6-875E-4740-9F5D-6FD28FB3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6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661E43-80FF-B84B-C56F-319FBE226C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0DE351-741F-71EA-A651-CBC1A3BC1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DFC4F-23FC-11B3-16EA-AFC026C21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78E2-2A89-A943-B6A5-C16DDB59CA1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9639A-DC18-E754-B739-16C3A05A6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7922B-FEC4-D261-4A5F-2ED497B31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9B2B6-875E-4740-9F5D-6FD28FB3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456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D92D85-4286-F502-B8E6-5F8180951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2140C-4C22-C35F-DD94-5C592F81D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30A6F-42E6-C830-C001-8F06399227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FD78E2-2A89-A943-B6A5-C16DDB59CA1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40E63-1101-561B-08BE-417169C5F1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1DC2D-DF3A-A50F-663B-693F5B107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29B2B6-875E-4740-9F5D-6FD28FB3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958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9.png"/><Relationship Id="rId2" Type="http://schemas.openxmlformats.org/officeDocument/2006/relationships/hyperlink" Target="https://www.d2l.ai/chapter_multilayer-perceptrons/mlp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s://cs231n.github.io/" TargetMode="External"/><Relationship Id="rId4" Type="http://schemas.openxmlformats.org/officeDocument/2006/relationships/hyperlink" Target="http://cs230.stanford.edu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join.slack.com/t/ai-toolsgroup/shared_invite/zt-3uytyukau-d22XvRJznqomm779lehjtQ" TargetMode="External"/><Relationship Id="rId2" Type="http://schemas.openxmlformats.org/officeDocument/2006/relationships/hyperlink" Target="https://github.com/xyz111131/AI-Tools-for-Statistical-Research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it.engineering.oregonstate.edu/hpc" TargetMode="External"/><Relationship Id="rId2" Type="http://schemas.openxmlformats.org/officeDocument/2006/relationships/hyperlink" Target="https://arcs.oregonstate.edu/novus-cluste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lab.research.google.com/" TargetMode="External"/><Relationship Id="rId4" Type="http://schemas.openxmlformats.org/officeDocument/2006/relationships/hyperlink" Target="https://mysupport.oregonstate.edu/esp?id=kb_article_view&amp;sys_kb_id=9576db4883f632d4169bcae0deaad3f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390E6-4561-0F11-E704-DA85A32AA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6355" y="1122363"/>
            <a:ext cx="10214263" cy="2387600"/>
          </a:xfrm>
        </p:spPr>
        <p:txBody>
          <a:bodyPr>
            <a:normAutofit/>
          </a:bodyPr>
          <a:lstStyle/>
          <a:p>
            <a:r>
              <a:rPr lang="en-US" b="1" dirty="0"/>
              <a:t>GPU Architecture and Its Role in 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B67371-A3B5-19D2-8492-EB6FC40F5F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81300"/>
            <a:ext cx="9144000" cy="2387601"/>
          </a:xfrm>
        </p:spPr>
        <p:txBody>
          <a:bodyPr>
            <a:normAutofit/>
          </a:bodyPr>
          <a:lstStyle/>
          <a:p>
            <a:r>
              <a:rPr lang="en-US" sz="2800" dirty="0"/>
              <a:t>Zhirui Hu</a:t>
            </a:r>
          </a:p>
          <a:p>
            <a:endParaRPr lang="en-US" dirty="0"/>
          </a:p>
          <a:p>
            <a:r>
              <a:rPr lang="en-US" dirty="0"/>
              <a:t>Department of Statistics</a:t>
            </a:r>
          </a:p>
          <a:p>
            <a:r>
              <a:rPr lang="en-US" dirty="0"/>
              <a:t>Oregon State University</a:t>
            </a:r>
          </a:p>
          <a:p>
            <a:r>
              <a:rPr lang="en-US" dirty="0"/>
              <a:t>04/22/2026</a:t>
            </a:r>
          </a:p>
        </p:txBody>
      </p:sp>
    </p:spTree>
    <p:extLst>
      <p:ext uri="{BB962C8B-B14F-4D97-AF65-F5344CB8AC3E}">
        <p14:creationId xmlns:p14="http://schemas.microsoft.com/office/powerpoint/2010/main" val="2290412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D5807-FF11-E786-1099-8EE234F8C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Graphics Processing Unit (</a:t>
            </a:r>
            <a:r>
              <a:rPr lang="en-US" dirty="0"/>
              <a:t>GPU)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1A016-B14D-A333-1649-C4BCB62F5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5155"/>
            <a:ext cx="10515600" cy="4561808"/>
          </a:xfrm>
        </p:spPr>
        <p:txBody>
          <a:bodyPr/>
          <a:lstStyle/>
          <a:p>
            <a:r>
              <a:rPr lang="en-US" dirty="0"/>
              <a:t>A GPU is a specialized electronic circuit designed for rapid mathematical calculations, originally designed for rendering images, videos, and 3D graphics, now used for modern AI development.</a:t>
            </a:r>
          </a:p>
          <a:p>
            <a:r>
              <a:rPr lang="en-US" dirty="0"/>
              <a:t>Unlike a CPU's few cores, GPUs have hundreds or thousands of smaller cores designed for parallel processing, execute the </a:t>
            </a:r>
            <a:r>
              <a:rPr lang="en-US" i="1" dirty="0"/>
              <a:t>same operation</a:t>
            </a:r>
            <a:r>
              <a:rPr lang="en-US" dirty="0"/>
              <a:t> on many data points simultaneously, called SIMD (Single Instruction, Multiple Data)</a:t>
            </a:r>
          </a:p>
          <a:p>
            <a:r>
              <a:rPr lang="en-US" dirty="0"/>
              <a:t>Handle data-intensive tasks like gaming, AI, video editing and scientific simulation.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775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5B14409-7FD9-476C-1142-429FDA1D25F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234" y="577433"/>
            <a:ext cx="7336168" cy="3746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BE3D78-B400-A241-9005-340E35C6386A}"/>
              </a:ext>
            </a:extLst>
          </p:cNvPr>
          <p:cNvSpPr txBox="1"/>
          <p:nvPr/>
        </p:nvSpPr>
        <p:spPr>
          <a:xfrm>
            <a:off x="1467739" y="4494775"/>
            <a:ext cx="9556335" cy="161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CPU: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Has a few powerful cores that process tasks sequentially or with limited parallelism.</a:t>
            </a:r>
          </a:p>
          <a:p>
            <a:pPr algn="l">
              <a:lnSpc>
                <a:spcPts val="2400"/>
              </a:lnSpc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GPU: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Contains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thousands of smaller cores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designed for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massive parallelism</a:t>
            </a:r>
            <a:r>
              <a:rPr lang="en-US" dirty="0">
                <a:solidFill>
                  <a:srgbClr val="242424"/>
                </a:solidFill>
                <a:latin typeface="source-serif-pro"/>
              </a:rPr>
              <a:t>.</a:t>
            </a:r>
          </a:p>
          <a:p>
            <a:pPr algn="l">
              <a:lnSpc>
                <a:spcPts val="2400"/>
              </a:lnSpc>
            </a:pPr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a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CPU is optimized for general-purpose computing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, a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GPU excels in handling thousands of smaller, independent computations simultaneously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FF525-33C7-046C-078B-C0F970A1976A}"/>
              </a:ext>
            </a:extLst>
          </p:cNvPr>
          <p:cNvSpPr txBox="1"/>
          <p:nvPr/>
        </p:nvSpPr>
        <p:spPr>
          <a:xfrm>
            <a:off x="553340" y="6488668"/>
            <a:ext cx="11504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medium.com</a:t>
            </a:r>
            <a:r>
              <a:rPr lang="en-US" dirty="0"/>
              <a:t>/ai-insights-</a:t>
            </a:r>
            <a:r>
              <a:rPr lang="en-US" dirty="0" err="1"/>
              <a:t>cobet</a:t>
            </a:r>
            <a:r>
              <a:rPr lang="en-US" dirty="0"/>
              <a:t>/understanding-gpu-architecture-basics-and-key-concepts-40412432812b</a:t>
            </a:r>
          </a:p>
        </p:txBody>
      </p:sp>
    </p:spTree>
    <p:extLst>
      <p:ext uri="{BB962C8B-B14F-4D97-AF65-F5344CB8AC3E}">
        <p14:creationId xmlns:p14="http://schemas.microsoft.com/office/powerpoint/2010/main" val="2200469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A87DF-10A1-C104-72BB-C27A9EC9D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memory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8C452-9150-5766-DFA6-1FC2D82CF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SRAM (Static RAM) — Fastest Cache Memory</a:t>
            </a:r>
            <a:endParaRPr lang="en-US" dirty="0"/>
          </a:p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0E6A459-D9F2-0BBF-92E5-ACA5981D8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15121"/>
            <a:ext cx="5671457" cy="3256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E46BC2-AA6A-8368-28DC-7736543D4383}"/>
              </a:ext>
            </a:extLst>
          </p:cNvPr>
          <p:cNvSpPr txBox="1"/>
          <p:nvPr/>
        </p:nvSpPr>
        <p:spPr>
          <a:xfrm>
            <a:off x="6885773" y="2834505"/>
            <a:ext cx="491596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solidFill>
                  <a:srgbClr val="242424"/>
                </a:solidFill>
                <a:effectLst/>
                <a:latin typeface="source-serif-pro"/>
              </a:rPr>
              <a:t>SRAM (Register/L1/L2 cache) helps GPUs process data much faster 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by reducing the need to fetch data from the slower </a:t>
            </a:r>
            <a:r>
              <a:rPr lang="en-US" i="0" dirty="0">
                <a:solidFill>
                  <a:srgbClr val="242424"/>
                </a:solidFill>
                <a:effectLst/>
                <a:latin typeface="source-serif-pro"/>
              </a:rPr>
              <a:t>global memory (VRAM/DRAM)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</a:p>
          <a:p>
            <a:endParaRPr lang="en-US" dirty="0">
              <a:solidFill>
                <a:srgbClr val="242424"/>
              </a:solidFill>
              <a:latin typeface="source-serif-pro"/>
            </a:endParaRPr>
          </a:p>
          <a:p>
            <a:r>
              <a:rPr lang="en-US" dirty="0"/>
              <a:t>HBM: High Bandwidth Memory (Global memory)</a:t>
            </a:r>
          </a:p>
          <a:p>
            <a:r>
              <a:rPr lang="en-US" dirty="0"/>
              <a:t>(&gt;&gt; CPU Memory)</a:t>
            </a:r>
          </a:p>
          <a:p>
            <a:endParaRPr lang="en-US" b="1" dirty="0"/>
          </a:p>
          <a:p>
            <a:r>
              <a:rPr lang="en-US" b="1" dirty="0"/>
              <a:t>Optimizing how data is stored improves GPU performance</a:t>
            </a:r>
          </a:p>
        </p:txBody>
      </p:sp>
    </p:spTree>
    <p:extLst>
      <p:ext uri="{BB962C8B-B14F-4D97-AF65-F5344CB8AC3E}">
        <p14:creationId xmlns:p14="http://schemas.microsoft.com/office/powerpoint/2010/main" val="919020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CD2A3-24A7-F9A4-1C8C-3C091DDD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89" y="108177"/>
            <a:ext cx="10515600" cy="1325563"/>
          </a:xfrm>
        </p:spPr>
        <p:txBody>
          <a:bodyPr/>
          <a:lstStyle/>
          <a:p>
            <a:r>
              <a:rPr lang="en-US" b="1" dirty="0"/>
              <a:t>Streaming Multiprocessors (SMs) 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E95C88C-4AEB-25D4-5368-6A24D07B75A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873" y="1087868"/>
            <a:ext cx="7489831" cy="3938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44DE19-FA5C-12A2-81F8-86968A6DC16D}"/>
              </a:ext>
            </a:extLst>
          </p:cNvPr>
          <p:cNvSpPr txBox="1"/>
          <p:nvPr/>
        </p:nvSpPr>
        <p:spPr>
          <a:xfrm>
            <a:off x="505098" y="5197368"/>
            <a:ext cx="10833462" cy="161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dirty="0"/>
              <a:t>SM schedules and executes multiple warps</a:t>
            </a:r>
            <a:endParaRPr lang="en-US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dirty="0"/>
              <a:t>All cores in a warp must execute the same instruction simultaneously but operate on different data, using multiples of 32 in tensor shapes ensures that all cores in a warp are utilized efficiently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42424"/>
                </a:solidFill>
                <a:latin typeface="source-serif-pro"/>
              </a:rPr>
              <a:t>Each GPU core can perform one Floating Point Operation (FLOP) per cycle.</a:t>
            </a:r>
            <a:endParaRPr lang="en-US" dirty="0"/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dirty="0"/>
              <a:t>Keep memory usage per program low to ensure more programs (PIDs) run per SM</a:t>
            </a:r>
          </a:p>
        </p:txBody>
      </p:sp>
    </p:spTree>
    <p:extLst>
      <p:ext uri="{BB962C8B-B14F-4D97-AF65-F5344CB8AC3E}">
        <p14:creationId xmlns:p14="http://schemas.microsoft.com/office/powerpoint/2010/main" val="2787833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D8EBB-CEAE-8CEA-E211-18965B369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vs GPU runtime in Monte Carlo Simulations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3341-5B67-3C5D-ACE8-B3C362919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Estimating </a:t>
            </a:r>
            <a:r>
              <a:rPr lang="el-GR" dirty="0"/>
              <a:t>π </a:t>
            </a:r>
            <a:r>
              <a:rPr lang="en-US" dirty="0"/>
              <a:t>with Random Points</a:t>
            </a:r>
          </a:p>
          <a:p>
            <a:r>
              <a:rPr lang="en-US" dirty="0"/>
              <a:t>Bootstrap Confidence Interval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801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8124A-06A8-1BA6-4D61-E3B5FAEC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10DB9-4099-833C-808B-FB77C340E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778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Perceptron -&gt; Multi-layer </a:t>
            </a:r>
            <a:r>
              <a:rPr lang="en-US" dirty="0" err="1"/>
              <a:t>perceptrons</a:t>
            </a:r>
            <a:r>
              <a:rPr lang="en-US" dirty="0"/>
              <a:t> -&gt; Deep Learning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/>
              <a:t>Many crucial algorithms and innovations were developed in the 1980’s and 1990’s, but applications and development were </a:t>
            </a:r>
            <a:r>
              <a:rPr lang="en-US" b="1" dirty="0"/>
              <a:t>limited by available computational power.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330E0A-3387-E05A-FB77-951CF4B85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032" y="2325263"/>
            <a:ext cx="4833112" cy="2548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ABFA11-585F-D4C2-E1CC-8E3E220F8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554" y="2727030"/>
            <a:ext cx="4278835" cy="174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31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565DB-4A2E-B668-D651-957F7A47B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Deep Learning Boom &amp; GPUs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E4E88-FA78-8759-6A1B-47A2066FE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massive datasets, high-performance computing power (GPUs), and advanced neural network architectures</a:t>
            </a:r>
          </a:p>
          <a:p>
            <a:r>
              <a:rPr lang="en-US" dirty="0"/>
              <a:t>Matrix multiplies (forward pass, backprop, weight updates) and convolution split into many independent tasks, turning simpler per-core performance into enormous aggregate throughput through massive parallelism. ​</a:t>
            </a:r>
          </a:p>
          <a:p>
            <a:pPr lvl="1"/>
            <a:r>
              <a:rPr lang="en-US" dirty="0"/>
              <a:t>Multiply of two 4096×4096 matrices involves ~34 billion floating-point operations, all of which are </a:t>
            </a:r>
            <a:r>
              <a:rPr lang="en-US" i="1" dirty="0"/>
              <a:t>independent</a:t>
            </a:r>
            <a:r>
              <a:rPr lang="en-US" dirty="0"/>
              <a:t> of each other and can run in parallel.</a:t>
            </a:r>
          </a:p>
          <a:p>
            <a:pPr lvl="1"/>
            <a:r>
              <a:rPr lang="en-US" dirty="0"/>
              <a:t>Data parallelism</a:t>
            </a:r>
          </a:p>
        </p:txBody>
      </p:sp>
    </p:spTree>
    <p:extLst>
      <p:ext uri="{BB962C8B-B14F-4D97-AF65-F5344CB8AC3E}">
        <p14:creationId xmlns:p14="http://schemas.microsoft.com/office/powerpoint/2010/main" val="2775539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3CF-FBFA-2966-1476-8F773F118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vendors and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02733-79C5-834F-75C6-CCE2F5EA0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1491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NVIDIA: </a:t>
            </a:r>
          </a:p>
          <a:p>
            <a:pPr lvl="1"/>
            <a:r>
              <a:rPr lang="en-US" b="1" dirty="0"/>
              <a:t>Data Center/High-End:</a:t>
            </a:r>
            <a:r>
              <a:rPr lang="en-US" dirty="0"/>
              <a:t> B200 (Blackwell) (best for massive AI), H200/H100 (standard for training), A100 (40GB/80GB).</a:t>
            </a:r>
          </a:p>
          <a:p>
            <a:pPr lvl="1"/>
            <a:r>
              <a:rPr lang="en-US" b="1" dirty="0"/>
              <a:t>Workstation/Value:</a:t>
            </a:r>
            <a:r>
              <a:rPr lang="en-US" dirty="0"/>
              <a:t> RTX 6000 Ada, L40S, RTX A6000.</a:t>
            </a:r>
          </a:p>
          <a:p>
            <a:pPr lvl="1"/>
            <a:r>
              <a:rPr lang="en-US" b="1" dirty="0"/>
              <a:t>Consumer/Entry-Level:</a:t>
            </a:r>
            <a:r>
              <a:rPr lang="en-US" dirty="0"/>
              <a:t> RTX 4090, RTX 4080, RTX 3090/3080 Ti.</a:t>
            </a:r>
          </a:p>
          <a:p>
            <a:r>
              <a:rPr lang="en-US" dirty="0"/>
              <a:t>AMD:</a:t>
            </a:r>
          </a:p>
          <a:p>
            <a:pPr lvl="1"/>
            <a:r>
              <a:rPr lang="en-US" b="1" dirty="0"/>
              <a:t>Data Center:</a:t>
            </a:r>
            <a:r>
              <a:rPr lang="en-US" dirty="0"/>
              <a:t> AMD Instinct MI300X accelerators (used in top AI cloud platforms)</a:t>
            </a:r>
            <a:r>
              <a:rPr lang="en-US" b="1" dirty="0"/>
              <a:t> </a:t>
            </a:r>
          </a:p>
          <a:p>
            <a:r>
              <a:rPr lang="en-US" dirty="0"/>
              <a:t>Google: </a:t>
            </a:r>
          </a:p>
          <a:p>
            <a:pPr lvl="1"/>
            <a:r>
              <a:rPr lang="en-US" dirty="0"/>
              <a:t>TPU v4/v5p (optimized for TensorFlow)</a:t>
            </a:r>
          </a:p>
          <a:p>
            <a:r>
              <a:rPr lang="en-US" dirty="0"/>
              <a:t>Apple M-Series:</a:t>
            </a:r>
          </a:p>
          <a:p>
            <a:pPr lvl="1"/>
            <a:r>
              <a:rPr lang="en-US" dirty="0"/>
              <a:t>M4: up to 80 Apple GPU cores</a:t>
            </a:r>
          </a:p>
          <a:p>
            <a:pPr lvl="1"/>
            <a:r>
              <a:rPr lang="en-US" dirty="0"/>
              <a:t>Consumer level: ML inference, no CUDA support</a:t>
            </a:r>
          </a:p>
        </p:txBody>
      </p:sp>
    </p:spTree>
    <p:extLst>
      <p:ext uri="{BB962C8B-B14F-4D97-AF65-F5344CB8AC3E}">
        <p14:creationId xmlns:p14="http://schemas.microsoft.com/office/powerpoint/2010/main" val="2221260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9D804-5654-C4A1-7248-69249E474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162" y="12509"/>
            <a:ext cx="10515600" cy="1325563"/>
          </a:xfrm>
        </p:spPr>
        <p:txBody>
          <a:bodyPr/>
          <a:lstStyle/>
          <a:p>
            <a:r>
              <a:rPr lang="en-US" dirty="0"/>
              <a:t>Comparison of NVIDIA GPU models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A338BD-BCBF-7941-B3BA-9485E5D89E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9898874"/>
              </p:ext>
            </p:extLst>
          </p:nvPr>
        </p:nvGraphicFramePr>
        <p:xfrm>
          <a:off x="724966" y="1171817"/>
          <a:ext cx="10619508" cy="4649448"/>
        </p:xfrm>
        <a:graphic>
          <a:graphicData uri="http://schemas.openxmlformats.org/drawingml/2006/table">
            <a:tbl>
              <a:tblPr/>
              <a:tblGrid>
                <a:gridCol w="2110287">
                  <a:extLst>
                    <a:ext uri="{9D8B030D-6E8A-4147-A177-3AD203B41FA5}">
                      <a16:colId xmlns:a16="http://schemas.microsoft.com/office/drawing/2014/main" val="2216215335"/>
                    </a:ext>
                  </a:extLst>
                </a:gridCol>
                <a:gridCol w="1701845">
                  <a:extLst>
                    <a:ext uri="{9D8B030D-6E8A-4147-A177-3AD203B41FA5}">
                      <a16:colId xmlns:a16="http://schemas.microsoft.com/office/drawing/2014/main" val="3084339134"/>
                    </a:ext>
                  </a:extLst>
                </a:gridCol>
                <a:gridCol w="1429549">
                  <a:extLst>
                    <a:ext uri="{9D8B030D-6E8A-4147-A177-3AD203B41FA5}">
                      <a16:colId xmlns:a16="http://schemas.microsoft.com/office/drawing/2014/main" val="2867888981"/>
                    </a:ext>
                  </a:extLst>
                </a:gridCol>
                <a:gridCol w="980262">
                  <a:extLst>
                    <a:ext uri="{9D8B030D-6E8A-4147-A177-3AD203B41FA5}">
                      <a16:colId xmlns:a16="http://schemas.microsoft.com/office/drawing/2014/main" val="311059151"/>
                    </a:ext>
                  </a:extLst>
                </a:gridCol>
                <a:gridCol w="1116410">
                  <a:extLst>
                    <a:ext uri="{9D8B030D-6E8A-4147-A177-3AD203B41FA5}">
                      <a16:colId xmlns:a16="http://schemas.microsoft.com/office/drawing/2014/main" val="1162065131"/>
                    </a:ext>
                  </a:extLst>
                </a:gridCol>
                <a:gridCol w="925803">
                  <a:extLst>
                    <a:ext uri="{9D8B030D-6E8A-4147-A177-3AD203B41FA5}">
                      <a16:colId xmlns:a16="http://schemas.microsoft.com/office/drawing/2014/main" val="466556998"/>
                    </a:ext>
                  </a:extLst>
                </a:gridCol>
                <a:gridCol w="1061950">
                  <a:extLst>
                    <a:ext uri="{9D8B030D-6E8A-4147-A177-3AD203B41FA5}">
                      <a16:colId xmlns:a16="http://schemas.microsoft.com/office/drawing/2014/main" val="2372182342"/>
                    </a:ext>
                  </a:extLst>
                </a:gridCol>
                <a:gridCol w="1293402">
                  <a:extLst>
                    <a:ext uri="{9D8B030D-6E8A-4147-A177-3AD203B41FA5}">
                      <a16:colId xmlns:a16="http://schemas.microsoft.com/office/drawing/2014/main" val="2451010294"/>
                    </a:ext>
                  </a:extLst>
                </a:gridCol>
              </a:tblGrid>
              <a:tr h="366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BW (GB/s)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TDP (W)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FP32 (TF)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263031"/>
                  </a:ext>
                </a:extLst>
              </a:tr>
              <a:tr h="267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4060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Ada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8 GB GDDR6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3,072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272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115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15.1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$299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402079"/>
                  </a:ext>
                </a:extLst>
              </a:tr>
              <a:tr h="4257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4070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Ada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12 GB GDDR6X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5,888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504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200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29.1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$599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523726"/>
                  </a:ext>
                </a:extLst>
              </a:tr>
              <a:tr h="4257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4080 Super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Ada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16 GB GDDR6X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10,240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736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320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52.2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$999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058993"/>
                  </a:ext>
                </a:extLst>
              </a:tr>
              <a:tr h="4257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4090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Ada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24 GB GDDR6X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16,384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1,008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450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82.6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$1,599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094507"/>
                  </a:ext>
                </a:extLst>
              </a:tr>
              <a:tr h="4257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5090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Blackwell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32 GB GDDR7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21,760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1,792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575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</a:rPr>
                        <a:t>218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$1,999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531138"/>
                  </a:ext>
                </a:extLst>
              </a:tr>
              <a:tr h="4257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4000 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Ada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20 GB GDDR6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6,144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432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130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26.7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$1,250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437006"/>
                  </a:ext>
                </a:extLst>
              </a:tr>
              <a:tr h="4257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5000 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Ada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32 GB GDDR6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12,800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576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250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65.3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$4,000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138803"/>
                  </a:ext>
                </a:extLst>
              </a:tr>
              <a:tr h="4257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6000 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Ada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48 GB GDDR6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18,176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960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300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91.1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$6,800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72272"/>
                  </a:ext>
                </a:extLst>
              </a:tr>
              <a:tr h="267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85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H100 SXM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Hopper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80 GB HBM3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16,896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3,350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700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66.9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$30k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254421"/>
                  </a:ext>
                </a:extLst>
              </a:tr>
              <a:tr h="3291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85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H200 SXM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Hopper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141 GB HBM3e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16,896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</a:rPr>
                        <a:t>4,800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700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66.9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$40k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410793"/>
                  </a:ext>
                </a:extLst>
              </a:tr>
              <a:tr h="4257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85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B200 SXM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Blackwell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</a:rPr>
                        <a:t>192 GB HBM3e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20,480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</a:rPr>
                        <a:t>8,000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1,000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40*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$70k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895769"/>
                  </a:ext>
                </a:extLst>
              </a:tr>
            </a:tbl>
          </a:graphicData>
        </a:graphic>
      </p:graphicFrame>
      <p:sp>
        <p:nvSpPr>
          <p:cNvPr id="5" name="Text 11">
            <a:extLst>
              <a:ext uri="{FF2B5EF4-FFF2-40B4-BE49-F238E27FC236}">
                <a16:creationId xmlns:a16="http://schemas.microsoft.com/office/drawing/2014/main" id="{E1CFBEBB-94A8-1CFF-D0A4-8B4521526687}"/>
              </a:ext>
            </a:extLst>
          </p:cNvPr>
          <p:cNvSpPr/>
          <p:nvPr/>
        </p:nvSpPr>
        <p:spPr>
          <a:xfrm>
            <a:off x="6892594" y="6105494"/>
            <a:ext cx="4558188" cy="432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* B200 FP32 at 40 TF; AI/FP8 throughput is ~4× higher</a:t>
            </a:r>
            <a:endParaRPr lang="en-US" sz="16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F6066F3-7CD3-485B-415D-7CB68C700BD3}"/>
              </a:ext>
            </a:extLst>
          </p:cNvPr>
          <p:cNvSpPr/>
          <p:nvPr/>
        </p:nvSpPr>
        <p:spPr>
          <a:xfrm>
            <a:off x="656386" y="6389993"/>
            <a:ext cx="13716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32152F3-DA28-547F-B043-C8B079383FD8}"/>
              </a:ext>
            </a:extLst>
          </p:cNvPr>
          <p:cNvSpPr/>
          <p:nvPr/>
        </p:nvSpPr>
        <p:spPr>
          <a:xfrm>
            <a:off x="857554" y="6371705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978D9B2-4858-9946-7EC6-FE3D8B6FD678}"/>
              </a:ext>
            </a:extLst>
          </p:cNvPr>
          <p:cNvSpPr/>
          <p:nvPr/>
        </p:nvSpPr>
        <p:spPr>
          <a:xfrm>
            <a:off x="2805226" y="6389993"/>
            <a:ext cx="13716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B59D9BD-D6EA-C307-EBF7-4CC49C4A107B}"/>
              </a:ext>
            </a:extLst>
          </p:cNvPr>
          <p:cNvSpPr/>
          <p:nvPr/>
        </p:nvSpPr>
        <p:spPr>
          <a:xfrm>
            <a:off x="3006394" y="6371705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BA9D4DDC-6CC5-1695-0265-4325C84B3EC2}"/>
              </a:ext>
            </a:extLst>
          </p:cNvPr>
          <p:cNvSpPr/>
          <p:nvPr/>
        </p:nvSpPr>
        <p:spPr>
          <a:xfrm>
            <a:off x="4954066" y="6389993"/>
            <a:ext cx="13716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7ACE561-F807-10D1-92CF-1BF60376348A}"/>
              </a:ext>
            </a:extLst>
          </p:cNvPr>
          <p:cNvSpPr/>
          <p:nvPr/>
        </p:nvSpPr>
        <p:spPr>
          <a:xfrm>
            <a:off x="5155234" y="6371705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</a:t>
            </a:r>
            <a:endParaRPr lang="en-US" sz="1600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8D9F0DB2-E45D-2D00-18D9-0B9FEE515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2594" y="6519446"/>
            <a:ext cx="52432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i="1" dirty="0">
                <a:latin typeface="Calibri" pitchFamily="34" charset="0"/>
                <a:cs typeface="Calibri" pitchFamily="34" charset="-120"/>
              </a:rPr>
              <a:t>TF: TFLOPS, one trillion floating-point calculations per second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B77FBF6-B40D-355C-1874-E28FE36AF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-762000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7286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4">
            <a:extLst>
              <a:ext uri="{FF2B5EF4-FFF2-40B4-BE49-F238E27FC236}">
                <a16:creationId xmlns:a16="http://schemas.microsoft.com/office/drawing/2014/main" id="{DF9DA514-10B9-84FF-D21B-30187A74C565}"/>
              </a:ext>
            </a:extLst>
          </p:cNvPr>
          <p:cNvSpPr/>
          <p:nvPr/>
        </p:nvSpPr>
        <p:spPr>
          <a:xfrm>
            <a:off x="824622" y="786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47CEA500-E968-4DF5-1C89-2F0D5A4075C1}"/>
              </a:ext>
            </a:extLst>
          </p:cNvPr>
          <p:cNvSpPr/>
          <p:nvPr/>
        </p:nvSpPr>
        <p:spPr>
          <a:xfrm>
            <a:off x="1162950" y="7863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Memory Bandwidth Leap</a:t>
            </a:r>
            <a:endParaRPr lang="en-US" sz="20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B21BA83A-877E-A60A-A66D-E9720AD275D4}"/>
              </a:ext>
            </a:extLst>
          </p:cNvPr>
          <p:cNvSpPr/>
          <p:nvPr/>
        </p:nvSpPr>
        <p:spPr>
          <a:xfrm>
            <a:off x="824621" y="1188720"/>
            <a:ext cx="436598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inference is bandwidth-bound. Consumer GPUs tops at ~1.8 TB/s (RTX 5090). Data Center B200 reaches 8 TB/s, a 4× jump.</a:t>
            </a:r>
            <a:endParaRPr lang="en-US" sz="20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4CEB6C1D-9E91-8D4F-62C5-43DD422C42F3}"/>
              </a:ext>
            </a:extLst>
          </p:cNvPr>
          <p:cNvSpPr/>
          <p:nvPr/>
        </p:nvSpPr>
        <p:spPr>
          <a:xfrm>
            <a:off x="7001394" y="786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ED713E61-6D55-52EA-87F4-0C611472BB85}"/>
              </a:ext>
            </a:extLst>
          </p:cNvPr>
          <p:cNvSpPr/>
          <p:nvPr/>
        </p:nvSpPr>
        <p:spPr>
          <a:xfrm>
            <a:off x="7339722" y="7863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VRAM is the ML Bottleneck</a:t>
            </a:r>
            <a:endParaRPr lang="en-US" sz="20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5B84145E-624E-67BB-A552-D242C8765AB3}"/>
              </a:ext>
            </a:extLst>
          </p:cNvPr>
          <p:cNvSpPr/>
          <p:nvPr/>
        </p:nvSpPr>
        <p:spPr>
          <a:xfrm>
            <a:off x="7001394" y="1303020"/>
            <a:ext cx="4605251" cy="1604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Most consumer GPUs cap at 8-24 GB, too small for large models. The RTX 4090's 24 GB makes it the go-to for local ML. Professional GPUs offer up to 48 GB; H200 delivers 141 GB.</a:t>
            </a:r>
            <a:endParaRPr lang="en-US" sz="2000" dirty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42012F0F-7BC7-D6BB-05FE-98BEC9D2858B}"/>
              </a:ext>
            </a:extLst>
          </p:cNvPr>
          <p:cNvSpPr/>
          <p:nvPr/>
        </p:nvSpPr>
        <p:spPr>
          <a:xfrm>
            <a:off x="883782" y="40649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896214D0-D17E-7AE4-0429-2DC638D6172D}"/>
              </a:ext>
            </a:extLst>
          </p:cNvPr>
          <p:cNvSpPr/>
          <p:nvPr/>
        </p:nvSpPr>
        <p:spPr>
          <a:xfrm>
            <a:off x="1222110" y="40649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Generations</a:t>
            </a:r>
            <a:endParaRPr lang="en-US" sz="2000" dirty="0"/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69D6E2DF-E57E-D57B-15E7-9F98F8A77197}"/>
              </a:ext>
            </a:extLst>
          </p:cNvPr>
          <p:cNvSpPr/>
          <p:nvPr/>
        </p:nvSpPr>
        <p:spPr>
          <a:xfrm>
            <a:off x="883782" y="4467259"/>
            <a:ext cx="4365984" cy="1829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Ada Lovelace (2022) dominates consumer &amp; professional segments. Hopper (2022) powers H100/H200. Blackwell (2024–25) introduces B200 and RTX 5090 with massive gains in FP8 AI throughput.</a:t>
            </a:r>
            <a:endParaRPr lang="en-US" sz="2000" dirty="0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5A9E1A4D-A1C6-FF67-8100-5621E00F71B0}"/>
              </a:ext>
            </a:extLst>
          </p:cNvPr>
          <p:cNvSpPr/>
          <p:nvPr/>
        </p:nvSpPr>
        <p:spPr>
          <a:xfrm>
            <a:off x="6973962" y="40649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FF226DFE-592C-7B1E-862E-1F767DEF5E1C}"/>
              </a:ext>
            </a:extLst>
          </p:cNvPr>
          <p:cNvSpPr/>
          <p:nvPr/>
        </p:nvSpPr>
        <p:spPr>
          <a:xfrm>
            <a:off x="7312290" y="40649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Price vs. Performance Tiers</a:t>
            </a:r>
            <a:endParaRPr lang="en-US" sz="2000" dirty="0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D1AE665E-C62D-AEB1-E62B-E6400F55A234}"/>
              </a:ext>
            </a:extLst>
          </p:cNvPr>
          <p:cNvSpPr/>
          <p:nvPr/>
        </p:nvSpPr>
        <p:spPr>
          <a:xfrm>
            <a:off x="6973962" y="4467260"/>
            <a:ext cx="4726202" cy="18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Consumer GPUs offer best $/TFLOP for gaming and light ML. Professional add ECC memory and ISV certifications. Data Center cards cost 15–40× more but deliver unmatched memory capacity and bandwidth.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9158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115A6-56F6-F467-001F-4A03325DC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D1768-9CC1-5C6A-1D76-814E2C2D4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846" y="6007962"/>
            <a:ext cx="6146074" cy="96982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https://www.d2l.ai/chapter_multilayer-perceptrons/mlp.html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4098" name="Picture 2" descr="Dive into Deep Learning: Zhang, Aston, Lipton, Zachary C., Li ...">
            <a:extLst>
              <a:ext uri="{FF2B5EF4-FFF2-40B4-BE49-F238E27FC236}">
                <a16:creationId xmlns:a16="http://schemas.microsoft.com/office/drawing/2014/main" id="{94F9DE45-DC1B-4C54-0B94-CD44285BB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" y="1441632"/>
            <a:ext cx="3556000" cy="444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3982CD-4604-014C-E23F-1D5C485340D8}"/>
              </a:ext>
            </a:extLst>
          </p:cNvPr>
          <p:cNvSpPr txBox="1"/>
          <p:nvPr/>
        </p:nvSpPr>
        <p:spPr>
          <a:xfrm>
            <a:off x="7099613" y="5859393"/>
            <a:ext cx="4639541" cy="998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hlinkClick r:id="rId4"/>
              </a:rPr>
              <a:t>http://cs230.stanford.edu/</a:t>
            </a:r>
            <a:endParaRPr lang="en-US" sz="2800" dirty="0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hlinkClick r:id="rId5"/>
              </a:rPr>
              <a:t>https://cs231n.github.io/</a:t>
            </a:r>
            <a:r>
              <a:rPr lang="en-US" sz="28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2B1782-20AB-34A7-4F29-9EC253FA7F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9081" y="365125"/>
            <a:ext cx="4976639" cy="26100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322F40-6B61-62EA-1DBF-4E5F820B9D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9081" y="3075648"/>
            <a:ext cx="5135880" cy="280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026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A285B-24C8-FC64-E35B-BDE2D4C92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material </a:t>
            </a:r>
            <a:r>
              <a:rPr lang="en-US"/>
              <a:t>&amp; Communication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F1874-8690-4A78-2306-8C1F3FB82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https://github.com/xyz111131/AI-Tools-for-Statistical-Research</a:t>
            </a:r>
            <a:endParaRPr lang="en-US" dirty="0"/>
          </a:p>
          <a:p>
            <a:endParaRPr lang="en-US" dirty="0"/>
          </a:p>
          <a:p>
            <a:r>
              <a:rPr lang="en-US" dirty="0"/>
              <a:t>Slack: </a:t>
            </a:r>
            <a:r>
              <a:rPr lang="en-US" dirty="0">
                <a:hlinkClick r:id="rId3"/>
              </a:rPr>
              <a:t>https://join.slack.com/t/ai-toolsgroup/shared_invite/zt-3uytyukau-d22XvRJznqomm779lehjtQ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520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ACD76-DA6C-458A-BDC3-A5C94CD2D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596C6-2766-49B2-BD6B-D459B00BD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Sign up for computing cluster access</a:t>
            </a:r>
          </a:p>
          <a:p>
            <a:pPr lvl="1"/>
            <a:r>
              <a:rPr lang="en-US" dirty="0"/>
              <a:t>Novus: </a:t>
            </a:r>
            <a:r>
              <a:rPr lang="en-US" dirty="0">
                <a:hlinkClick r:id="rId2"/>
              </a:rPr>
              <a:t>https://arcs.oregonstate.edu/novus-cluster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COE: </a:t>
            </a:r>
            <a:r>
              <a:rPr lang="en-US" dirty="0">
                <a:hlinkClick r:id="rId3"/>
              </a:rPr>
              <a:t>https://it.engineering.oregonstate.edu/hpc</a:t>
            </a:r>
            <a:endParaRPr lang="en-US" dirty="0"/>
          </a:p>
          <a:p>
            <a:pPr lvl="1"/>
            <a:r>
              <a:rPr lang="en-US" dirty="0"/>
              <a:t> Cisco Secure Client: </a:t>
            </a:r>
            <a:r>
              <a:rPr lang="en-US" dirty="0">
                <a:hlinkClick r:id="rId4"/>
              </a:rPr>
              <a:t>https://mysupport.oregonstate.edu/esp?id=kb_article_view&amp;sys_kb_id=9576db4883f632d4169bcae0deaad3fa</a:t>
            </a:r>
            <a:r>
              <a:rPr lang="en-US" dirty="0"/>
              <a:t> </a:t>
            </a:r>
          </a:p>
          <a:p>
            <a:r>
              <a:rPr lang="en-US" dirty="0"/>
              <a:t>Google </a:t>
            </a:r>
            <a:r>
              <a:rPr lang="en-US" dirty="0" err="1"/>
              <a:t>Colab</a:t>
            </a:r>
            <a:r>
              <a:rPr lang="en-US" dirty="0"/>
              <a:t> account</a:t>
            </a:r>
          </a:p>
          <a:p>
            <a:pPr lvl="1"/>
            <a:r>
              <a:rPr lang="en-US" dirty="0">
                <a:hlinkClick r:id="rId5"/>
              </a:rPr>
              <a:t>https://colab.research.google.com/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Free </a:t>
            </a:r>
            <a:r>
              <a:rPr lang="en-US" dirty="0" err="1"/>
              <a:t>Colab</a:t>
            </a:r>
            <a:r>
              <a:rPr lang="en-US" dirty="0"/>
              <a:t> Pro for students and educators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116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3867</TotalTime>
  <Words>1347</Words>
  <Application>Microsoft Macintosh PowerPoint</Application>
  <PresentationFormat>Widescreen</PresentationFormat>
  <Paragraphs>211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source-serif-pro</vt:lpstr>
      <vt:lpstr>Aptos</vt:lpstr>
      <vt:lpstr>Aptos Display</vt:lpstr>
      <vt:lpstr>Arial</vt:lpstr>
      <vt:lpstr>Calibri</vt:lpstr>
      <vt:lpstr>Office Theme</vt:lpstr>
      <vt:lpstr>GPU Architecture and Its Role in Deep Learning</vt:lpstr>
      <vt:lpstr>Graphics Processing Unit (GPU)</vt:lpstr>
      <vt:lpstr>PowerPoint Presentation</vt:lpstr>
      <vt:lpstr>GPU memory hierarchy</vt:lpstr>
      <vt:lpstr>Streaming Multiprocessors (SMs) </vt:lpstr>
      <vt:lpstr>CPU vs GPU runtime in Monte Carlo Simulations</vt:lpstr>
      <vt:lpstr>Neural networks</vt:lpstr>
      <vt:lpstr>Deep Learning Boom &amp; GPUs </vt:lpstr>
      <vt:lpstr>GPU vendors and models</vt:lpstr>
      <vt:lpstr>Comparison of NVIDIA GPU models</vt:lpstr>
      <vt:lpstr>PowerPoint Presentation</vt:lpstr>
      <vt:lpstr>References</vt:lpstr>
      <vt:lpstr>Course material &amp; Communication</vt:lpstr>
      <vt:lpstr>Next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Zhirui Hu</dc:creator>
  <cp:lastModifiedBy>Zhirui Hu</cp:lastModifiedBy>
  <cp:revision>1</cp:revision>
  <dcterms:created xsi:type="dcterms:W3CDTF">2026-04-07T03:27:44Z</dcterms:created>
  <dcterms:modified xsi:type="dcterms:W3CDTF">2026-04-22T06:32:16Z</dcterms:modified>
</cp:coreProperties>
</file>